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0398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5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🍲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CarinderAI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Lutong bahay, smarter ops.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</a:rPr>
              <a:t>Built at a real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</a:rPr>
              <a:t>carinderia.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Paper lists → digital orders. Camera watches the counter.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Books that close themselves.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434840"/>
            <a:ext cx="45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44348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Rovince Eduvane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Anthony Seumal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0" y="228600"/>
            <a:ext cx="3383280" cy="44805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623560" y="4297680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623560" y="42976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📍 Tested live at a real carinderia, NCR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500" dirty="0">
                <a:solidFill>
                  <a:srgbClr val="FFFFFF"/>
                </a:solidFill>
              </a:rPr>
              <a:t>OUR STORY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CarinderAI was born from a simple yet powerful desire to build a platform that empowers carinderia owners and uplift the lives of many Filipinos.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2788920"/>
            <a:ext cx="201168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77440" y="30632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FFFFFF"/>
                </a:solidFill>
              </a:rPr>
              <a:t>Rovince at a carinderia in Manila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480560" y="548640"/>
            <a:ext cx="43891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EA580C"/>
                </a:solidFill>
              </a:rPr>
              <a:t>Traditional eateries like carinderia or turo-turo have always been close to our hearts, yet they remain an industry that has been largely forgotten and ignored.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A580C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</a:rPr>
              <a:t>Owners work hard. The system works against them.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📝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2331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</a:rPr>
              <a:t>Paper lists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5676B"/>
                </a:solidFill>
              </a:rPr>
              <a:t>Every purchase starts with a handwritten list that gets lost or misread. No supplier, no price, no stock visibility.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46304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16002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🧮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37560" y="2331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</a:rPr>
              <a:t>Mental math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37560" y="27889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5676B"/>
                </a:solidFill>
              </a:rPr>
              <a:t>Sales are tallied by hand at the end of the day — hours after the last customer left. Errors compound silently.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0" y="16002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📒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172200" y="2331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</a:rPr>
              <a:t>No real books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72200" y="27889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5676B"/>
                </a:solidFill>
              </a:rPr>
              <a:t>"Finance" is a worn-out notebook. Owners can't see which dish is profitable, which supplier is fair, or which day is slow.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A580C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</a:rPr>
              <a:t>Three pillars. One phone.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651760" cy="338328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5727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</a:rPr>
              <a:t>OCR Logistics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69748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5676B"/>
                </a:solidFill>
              </a:rPr>
              <a:t>Snap handwritten palengke lists. AI reads items, quantities &amp; units, matches to 6 suppliers (28+ Filipino staples), auto-journals as EXPENSE.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463040"/>
            <a:ext cx="2651760" cy="33832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37560" y="1600200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0" y="15727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37560" y="2194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</a:rPr>
              <a:t>Accounting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37560" y="269748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5676B"/>
                </a:solidFill>
              </a:rPr>
              <a:t>Every order auto-creates a double-entry journal. 7-day revenue/expense chart. Edit, delete, log sales — all with Filipino microcopy.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463040"/>
            <a:ext cx="2651760" cy="33832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72200" y="1600200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7220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15727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0000"/>
                </a:solidFill>
              </a:rPr>
              <a:t>📹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172200" y="2194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</a:rPr>
              <a:t>Camera POS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72200" y="269748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5676B"/>
                </a:solidFill>
              </a:rPr>
              <a:t>Point camera at a food tray → GPT-4o identifies dishes → auto-tallies receipt. Counter Session watches dishes disappear continuously.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A580C"/>
                </a:solidFill>
              </a:rPr>
              <a:t>HERO #1 — OCR LIST SCANNING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</a:rPr>
              <a:t>Paper list → digital supplier order.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657600" cy="352044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3657600" cy="365760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5676B"/>
                </a:solidFill>
              </a:rPr>
              <a:t>📝 Handwritten palengke list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Chicken  5 kg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Rice  25 kg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Eggs  3 trays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Cooking oil  2 liters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Garlic  1 kg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337560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Onion  2 kg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657600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Tomato  2 kg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Pork  4 kg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60520" y="2971800"/>
            <a:ext cx="640080" cy="0"/>
          </a:xfrm>
          <a:prstGeom prst="line">
            <a:avLst/>
          </a:prstGeom>
          <a:noFill/>
          <a:ln w="381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69080" y="27889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580C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983480" y="1234440"/>
            <a:ext cx="3749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20640" y="13716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Extracted items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17190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5676B"/>
                </a:solidFill>
              </a:rPr>
              <a:t>8 of 8 matched · 5–8 sec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2084832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Chicken · 5 kg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2084832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5676B"/>
                </a:solidFill>
              </a:rPr>
              <a:t>Manok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2084832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A580C"/>
                </a:solidFill>
              </a:rPr>
              <a:t>₱1,250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2377440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Rice · 25 kg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2377440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5676B"/>
                </a:solidFill>
              </a:rPr>
              <a:t>Bigas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2377440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A580C"/>
                </a:solidFill>
              </a:rPr>
              <a:t>₱1,375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2670048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Eggs · 3 trays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2670048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5676B"/>
                </a:solidFill>
              </a:rPr>
              <a:t>Itlog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2670048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A580C"/>
                </a:solidFill>
              </a:rPr>
              <a:t>₱720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20640" y="2962656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Cooking oil · 2 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0" y="2962656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5676B"/>
                </a:solidFill>
              </a:rPr>
              <a:t>Mantika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0" y="2962656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A580C"/>
                </a:solidFill>
              </a:rPr>
              <a:t>₱190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20640" y="3255264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Garlic · 1 kg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0" y="3255264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5676B"/>
                </a:solidFill>
              </a:rPr>
              <a:t>Bawang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0" y="3255264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A580C"/>
                </a:solidFill>
              </a:rPr>
              <a:t>₱180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20640" y="3547872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Onion · 2 kg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3547872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5676B"/>
                </a:solidFill>
              </a:rPr>
              <a:t>Sibuyas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0" y="3547872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A580C"/>
                </a:solidFill>
              </a:rPr>
              <a:t>₱240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20640" y="3840480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Tomato · 2 kg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58000" y="3840480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5676B"/>
                </a:solidFill>
              </a:rPr>
              <a:t>Kamatis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72400" y="3840480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A580C"/>
                </a:solidFill>
              </a:rPr>
              <a:t>₱160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20640" y="4133088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Pork · 4 kg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58000" y="4133088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5676B"/>
                </a:solidFill>
              </a:rPr>
              <a:t>Baboy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772400" y="4133088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A580C"/>
                </a:solidFill>
              </a:rPr>
              <a:t>₱1,440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120640" y="4462272"/>
            <a:ext cx="342900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120640" y="4526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76B"/>
                </a:solidFill>
              </a:rPr>
              <a:t>Total to suppliers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67512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A1A1A"/>
                </a:solidFill>
              </a:rPr>
              <a:t>₱5,555.00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A580C"/>
                </a:solidFill>
              </a:rPr>
              <a:t>HERO #2 — CAMERA POS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Tray Tally: see a dish, record a sale.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1600200" cy="2286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Capture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5676B"/>
                </a:solidFill>
              </a:rPr>
              <a:t>Single-shot or Counter Session mode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57400" y="1325880"/>
            <a:ext cx="1600200" cy="2286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148840" y="1463040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488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48840" y="20116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Recognize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48840" y="242316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5676B"/>
                </a:solidFill>
              </a:rPr>
              <a:t>GPT-4o identifies 6 menu dishes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49040" y="1325880"/>
            <a:ext cx="1600200" cy="2286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840480" y="1463040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40480" y="20116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Record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840480" y="242316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5676B"/>
                </a:solidFill>
              </a:rPr>
              <a:t>Receipt + JournalEntry written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749040"/>
            <a:ext cx="521208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79476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A580C"/>
                </a:solidFill>
              </a:rPr>
              <a:t>Counter Session Mode: </a:t>
            </a:r>
            <a:r>
              <a:rPr lang="en-US" sz="1200" dirty="0">
                <a:solidFill>
                  <a:srgbClr val="CCCCCC"/>
                </a:solidFill>
              </a:rPr>
              <a:t>Baseline on frame 1 → diff-based detection every 8s → 3-frame confirmation threshold → sale recorded when count drops.</a:t>
            </a:r>
            <a:endParaRPr lang="en-US" sz="12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0" y="1097280"/>
            <a:ext cx="2743200" cy="36576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035040" y="4434840"/>
            <a:ext cx="2743200" cy="3200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035040" y="4434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Finance tab — auto-journaled at the carinderia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A580C"/>
                </a:solidFill>
              </a:rPr>
              <a:t>FIELD PROOF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</a:rPr>
              <a:t>We didn't just code it. We took it to a carinderia.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188720"/>
            <a:ext cx="27432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4133088"/>
            <a:ext cx="27432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41330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Demo at a live carinderia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91840" y="1188720"/>
            <a:ext cx="2743200" cy="3200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291840" y="4133088"/>
            <a:ext cx="27432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3291840" y="41330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More menu — 7 features accessible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17920" y="1188720"/>
            <a:ext cx="2743200" cy="32004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217920" y="4133088"/>
            <a:ext cx="27432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6217920" y="41330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Showing the app in the field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A580C"/>
                </a:solidFill>
              </a:rPr>
              <a:t>THE APP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</a:rPr>
              <a:t>Seven tabs. One ledger. Every action logged.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011680" cy="347472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01168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🏠 Home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278892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324612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370332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4389120"/>
            <a:ext cx="2011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440740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580C"/>
                </a:solidFill>
              </a:rPr>
              <a:t>🏠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5528" y="440740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5676B"/>
                </a:solidFill>
              </a:rPr>
              <a:t>🛒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79576" y="440740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5676B"/>
                </a:solidFill>
              </a:rPr>
              <a:t>⬤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63624" y="440740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5676B"/>
                </a:solidFill>
              </a:rPr>
              <a:t>📊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47672" y="440740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5676B"/>
                </a:solidFill>
              </a:rPr>
              <a:t>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47731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5676B"/>
                </a:solidFill>
              </a:rPr>
              <a:t>KPIs + quick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5676B"/>
                </a:solidFill>
              </a:rPr>
              <a:t>action buttons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14600" y="1280160"/>
            <a:ext cx="2011680" cy="347472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14600" y="1280160"/>
            <a:ext cx="201168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560320" y="1280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🛒 Market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51760" y="187452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651760" y="233172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651760" y="278892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651760" y="324612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651760" y="370332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14600" y="4389120"/>
            <a:ext cx="2011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560320" y="440740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5676B"/>
                </a:solidFill>
              </a:rPr>
              <a:t>🏠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944368" y="440740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580C"/>
                </a:solidFill>
              </a:rPr>
              <a:t>🛒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28416" y="440740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5676B"/>
                </a:solidFill>
              </a:rPr>
              <a:t>⬤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712464" y="440740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5676B"/>
                </a:solidFill>
              </a:rPr>
              <a:t>📊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096512" y="440740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5676B"/>
                </a:solidFill>
              </a:rPr>
              <a:t>☰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60320" y="47731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5676B"/>
                </a:solidFill>
              </a:rPr>
              <a:t>Suppliers + nearby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5676B"/>
                </a:solidFill>
              </a:rPr>
              <a:t>vendors by distance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1280160"/>
            <a:ext cx="2011680" cy="347472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63440" y="1280160"/>
            <a:ext cx="201168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09160" y="1280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Finance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00600" y="187452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800600" y="233172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800600" y="278892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00600" y="324612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800600" y="370332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663440" y="4389120"/>
            <a:ext cx="2011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09160" y="440740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5676B"/>
                </a:solidFill>
              </a:rPr>
              <a:t>🏠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93208" y="440740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5676B"/>
                </a:solidFill>
              </a:rPr>
              <a:t>🛒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77256" y="440740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A580C"/>
                </a:solidFill>
              </a:rPr>
              <a:t>⬤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861304" y="440740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5676B"/>
                </a:solidFill>
              </a:rPr>
              <a:t>📊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245352" y="440740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5676B"/>
                </a:solidFill>
              </a:rPr>
              <a:t>☰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09160" y="47731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5676B"/>
                </a:solidFill>
              </a:rPr>
              <a:t>7-day chart +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5676B"/>
                </a:solidFill>
              </a:rPr>
              <a:t>auto-journaled entries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812280" y="1280160"/>
            <a:ext cx="2011680" cy="347472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812280" y="1280160"/>
            <a:ext cx="201168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858000" y="1280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📹 Tray Tally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949440" y="187452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949440" y="233172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949440" y="278892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949440" y="324612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949440" y="370332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812280" y="4389120"/>
            <a:ext cx="2011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858000" y="440740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5676B"/>
                </a:solidFill>
              </a:rPr>
              <a:t>🏠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242048" y="440740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5676B"/>
                </a:solidFill>
              </a:rPr>
              <a:t>🛒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626096" y="440740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5676B"/>
                </a:solidFill>
              </a:rPr>
              <a:t>⬤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010144" y="440740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580C"/>
                </a:solidFill>
              </a:rPr>
              <a:t>📊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394192" y="440740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5676B"/>
                </a:solidFill>
              </a:rPr>
              <a:t>☰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858000" y="47731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5676B"/>
                </a:solidFill>
              </a:rPr>
              <a:t>Camera POS +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5676B"/>
                </a:solidFill>
              </a:rPr>
              <a:t>Counter Session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A580C"/>
                </a:solidFill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Real engineering. Real data. No smoke.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" cy="822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Next.js 14 PWA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76B"/>
                </a:solidFill>
              </a:rPr>
              <a:t>App Router, TypeScript, Tailwind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402336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54864" cy="822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417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Prisma + SQLite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76B"/>
                </a:solidFill>
              </a:rPr>
              <a:t>7 models, transactional writes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402336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54864" cy="822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423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GPT-4o Vision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76B"/>
                </a:solidFill>
              </a:rPr>
              <a:t>OCR + dish recognition, JSON-constrained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377440"/>
            <a:ext cx="402336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2377440"/>
            <a:ext cx="54864" cy="822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2423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Zustand + react-hot-toast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76B"/>
                </a:solidFill>
              </a:rPr>
              <a:t>Cart state, toast notifications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402336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54864" cy="822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34290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Fuse.js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794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76B"/>
                </a:solidFill>
              </a:rPr>
              <a:t>Fuzzy product matching at 0.4 threshold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383280"/>
            <a:ext cx="402336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3383280"/>
            <a:ext cx="54864" cy="822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0" y="34290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Recharts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3794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76B"/>
                </a:solidFill>
              </a:rPr>
              <a:t>7-day revenue/expense bar chart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4360" y="4370832"/>
            <a:ext cx="7955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</a:rPr>
              <a:t>REAL: </a:t>
            </a:r>
            <a:r>
              <a:rPr lang="en-US" sz="1100" dirty="0">
                <a:solidFill>
                  <a:srgbClr val="65676B"/>
                </a:solidFill>
              </a:rPr>
              <a:t>OCR · Logistics cart+checkout · Journal entries · CV Tray Tally · External merchants · Customer search   </a:t>
            </a:r>
            <a:r>
              <a:rPr lang="en-US" sz="1100" b="1" dirty="0">
                <a:solidFill>
                  <a:srgbClr val="F59E0B"/>
                </a:solidFill>
              </a:rPr>
              <a:t>MOCKED: </a:t>
            </a:r>
            <a:r>
              <a:rPr lang="en-US" sz="1100" dirty="0">
                <a:solidFill>
                  <a:srgbClr val="65676B"/>
                </a:solidFill>
              </a:rPr>
              <a:t>Predictions (hardcoded)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A580C"/>
                </a:solidFill>
              </a:rPr>
              <a:t>THE PROCESS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</a:rPr>
              <a:t>Built spec-first with Kiro in under 48 hours.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1554480"/>
            <a:ext cx="640080" cy="64008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</a:rPr>
              <a:t>Requirements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65676B"/>
                </a:solidFill>
              </a:rPr>
              <a:t>21 EARS-format requirements in requirements.md with explicit acceptance criteria per feature.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4251960"/>
            <a:ext cx="1554480" cy="320040"/>
          </a:xfrm>
          <a:prstGeom prst="roundRect">
            <a:avLst>
              <a:gd name="adj" fmla="val 17143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42519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~12 credits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417320"/>
            <a:ext cx="2011680" cy="338328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554480"/>
            <a:ext cx="640080" cy="64008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06040" y="2331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</a:rPr>
              <a:t>Design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06040" y="27889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65676B"/>
                </a:solidFill>
              </a:rPr>
              <a:t>Full tech design in design.md — Prisma schema, API contracts, Fuse.js config, seed plan.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0" y="4251960"/>
            <a:ext cx="1554480" cy="320040"/>
          </a:xfrm>
          <a:prstGeom prst="roundRect">
            <a:avLst>
              <a:gd name="adj" fmla="val 17143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0" y="42519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~42 credits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41732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349240" y="1554480"/>
            <a:ext cx="640080" cy="64008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4924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2331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</a:rPr>
              <a:t>Tasks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54880" y="27889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65676B"/>
                </a:solidFill>
              </a:rPr>
              <a:t>37 leaf tasks in tasks.md ordered by tier — Foundation → Logistics → Accounting → OCR → UI.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4251960"/>
            <a:ext cx="1554480" cy="320040"/>
          </a:xfrm>
          <a:prstGeom prst="roundRect">
            <a:avLst>
              <a:gd name="adj" fmla="val 17143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92040" y="42519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~10 credits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12280" y="1417320"/>
            <a:ext cx="2011680" cy="338328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498080" y="1554480"/>
            <a:ext cx="640080" cy="64008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980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03720" y="2331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</a:rPr>
              <a:t>Execute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03720" y="27889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65676B"/>
                </a:solidFill>
              </a:rPr>
              <a:t>Batched execution, one phase at a time. Kiro ran self-audits and in-process smoke tests per task.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40880" y="4251960"/>
            <a:ext cx="1554480" cy="320040"/>
          </a:xfrm>
          <a:prstGeom prst="roundRect">
            <a:avLst>
              <a:gd name="adj" fmla="val 17143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040880" y="42519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~540 credits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A580C"/>
                </a:solidFill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Where CarinderAI goes next.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651760" cy="3474720"/>
          </a:xfrm>
          <a:prstGeom prst="rect">
            <a:avLst/>
          </a:prstGeom>
          <a:solidFill>
            <a:srgbClr val="1A1A1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1005840" cy="320040"/>
          </a:xfrm>
          <a:prstGeom prst="roundRect">
            <a:avLst>
              <a:gd name="adj" fmla="val 17143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SHIPPED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00200" y="15727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676B"/>
                </a:solidFill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Camera-first Operations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A580C"/>
                </a:solidFill>
              </a:rPr>
              <a:t>→  </a:t>
            </a:r>
            <a:r>
              <a:rPr lang="en-US" sz="1100" dirty="0">
                <a:solidFill>
                  <a:srgbClr val="CCCCCC"/>
                </a:solidFill>
              </a:rPr>
              <a:t>OCR palengke list → supplier order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9260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A580C"/>
                </a:solidFill>
              </a:rPr>
              <a:t>→  </a:t>
            </a:r>
            <a:r>
              <a:rPr lang="en-US" sz="1100" dirty="0">
                <a:solidFill>
                  <a:srgbClr val="CCCCCC"/>
                </a:solidFill>
              </a:rPr>
              <a:t>Tray Tally single-shot + Counter Session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3375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A580C"/>
                </a:solidFill>
              </a:rPr>
              <a:t>→  </a:t>
            </a:r>
            <a:r>
              <a:rPr lang="en-US" sz="1100" dirty="0">
                <a:solidFill>
                  <a:srgbClr val="CCCCCC"/>
                </a:solidFill>
              </a:rPr>
              <a:t>Auto-journal every transaction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7490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A580C"/>
                </a:solidFill>
              </a:rPr>
              <a:t>→  </a:t>
            </a:r>
            <a:r>
              <a:rPr lang="en-US" sz="1100" dirty="0">
                <a:solidFill>
                  <a:srgbClr val="CCCCCC"/>
                </a:solidFill>
              </a:rPr>
              <a:t>External merchants nearby map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1605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A580C"/>
                </a:solidFill>
              </a:rPr>
              <a:t>→  </a:t>
            </a:r>
            <a:r>
              <a:rPr lang="en-US" sz="1100" dirty="0">
                <a:solidFill>
                  <a:srgbClr val="CCCCCC"/>
                </a:solidFill>
              </a:rPr>
              <a:t>Customer food discovery search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417320"/>
            <a:ext cx="2651760" cy="3474720"/>
          </a:xfrm>
          <a:prstGeom prst="rect">
            <a:avLst/>
          </a:prstGeom>
          <a:solidFill>
            <a:srgbClr val="1A1A1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337560" y="1554480"/>
            <a:ext cx="1005840" cy="320040"/>
          </a:xfrm>
          <a:prstGeom prst="roundRect">
            <a:avLst>
              <a:gd name="adj" fmla="val 1714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37560" y="15544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NEXT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34840" y="15727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676B"/>
                </a:solidFill>
              </a:rPr>
              <a:t>Phase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Edge ML + Real Orders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37560" y="25146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A580C"/>
                </a:solidFill>
              </a:rPr>
              <a:t>→  </a:t>
            </a:r>
            <a:r>
              <a:rPr lang="en-US" sz="1100" dirty="0">
                <a:solidFill>
                  <a:srgbClr val="CCCCCC"/>
                </a:solidFill>
              </a:rPr>
              <a:t>Fine-tuned YOLOv8 for Filipino dishes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29260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A580C"/>
                </a:solidFill>
              </a:rPr>
              <a:t>→  </a:t>
            </a:r>
            <a:r>
              <a:rPr lang="en-US" sz="1100" dirty="0">
                <a:solidFill>
                  <a:srgbClr val="CCCCCC"/>
                </a:solidFill>
              </a:rPr>
              <a:t>Faster, cheaper, offline-capable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33375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A580C"/>
                </a:solidFill>
              </a:rPr>
              <a:t>→  </a:t>
            </a:r>
            <a:r>
              <a:rPr lang="en-US" sz="1100" dirty="0">
                <a:solidFill>
                  <a:srgbClr val="CCCCCC"/>
                </a:solidFill>
              </a:rPr>
              <a:t>Real supplier ordering + delivery tracking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37490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A580C"/>
                </a:solidFill>
              </a:rPr>
              <a:t>→  </a:t>
            </a:r>
            <a:r>
              <a:rPr lang="en-US" sz="1100" dirty="0">
                <a:solidFill>
                  <a:srgbClr val="CCCCCC"/>
                </a:solidFill>
              </a:rPr>
              <a:t>Merchant marketplace with live inventory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41605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A580C"/>
                </a:solidFill>
              </a:rPr>
              <a:t>→  </a:t>
            </a:r>
            <a:r>
              <a:rPr lang="en-US" sz="1100" dirty="0">
                <a:solidFill>
                  <a:srgbClr val="CCCCCC"/>
                </a:solidFill>
              </a:rPr>
              <a:t>Mobile app (iOS + Android)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1417320"/>
            <a:ext cx="2651760" cy="3474720"/>
          </a:xfrm>
          <a:prstGeom prst="rect">
            <a:avLst/>
          </a:prstGeom>
          <a:solidFill>
            <a:srgbClr val="1A1A1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72200" y="1554480"/>
            <a:ext cx="1005840" cy="320040"/>
          </a:xfrm>
          <a:prstGeom prst="roundRect">
            <a:avLst>
              <a:gd name="adj" fmla="val 17143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72200" y="15544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VISION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69480" y="15727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676B"/>
                </a:solidFill>
              </a:rPr>
              <a:t>Phase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Full Auto POS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72200" y="25146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A580C"/>
                </a:solidFill>
              </a:rPr>
              <a:t>→  </a:t>
            </a:r>
            <a:r>
              <a:rPr lang="en-US" sz="1100" dirty="0">
                <a:solidFill>
                  <a:srgbClr val="CCCCCC"/>
                </a:solidFill>
              </a:rPr>
              <a:t>HRNet/RTMPose pose estimation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29260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A580C"/>
                </a:solidFill>
              </a:rPr>
              <a:t>→  </a:t>
            </a:r>
            <a:r>
              <a:rPr lang="en-US" sz="1100" dirty="0">
                <a:solidFill>
                  <a:srgbClr val="CCCCCC"/>
                </a:solidFill>
              </a:rPr>
              <a:t>DeepSORT customer re-identification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72200" y="33375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A580C"/>
                </a:solidFill>
              </a:rPr>
              <a:t>→  </a:t>
            </a:r>
            <a:r>
              <a:rPr lang="en-US" sz="1100" dirty="0">
                <a:solidFill>
                  <a:srgbClr val="CCCCCC"/>
                </a:solidFill>
              </a:rPr>
              <a:t>Hand-object interaction detection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72200" y="37490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A580C"/>
                </a:solidFill>
              </a:rPr>
              <a:t>→  </a:t>
            </a:r>
            <a:r>
              <a:rPr lang="en-US" sz="1100" dirty="0">
                <a:solidFill>
                  <a:srgbClr val="CCCCCC"/>
                </a:solidFill>
              </a:rPr>
              <a:t>Zero-touch checkout from food counter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72200" y="41605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A580C"/>
                </a:solidFill>
              </a:rPr>
              <a:t>→  </a:t>
            </a:r>
            <a:r>
              <a:rPr lang="en-US" sz="1100" dirty="0">
                <a:solidFill>
                  <a:srgbClr val="CCCCCC"/>
                </a:solidFill>
              </a:rPr>
              <a:t>Same architecture as Mashgin ($62M)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A580C"/>
                </a:solidFill>
              </a:rPr>
              <a:t>THE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An underserved market hiding in plain sight.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011680" cy="2651760"/>
          </a:xfrm>
          <a:prstGeom prst="rect">
            <a:avLst/>
          </a:prstGeom>
          <a:solidFill>
            <a:srgbClr val="EA580C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150K+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Carinderia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owners in PH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FED7AA"/>
                </a:solidFill>
              </a:rPr>
              <a:t>MSMEs, mostly informal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371600"/>
            <a:ext cx="2011680" cy="2651760"/>
          </a:xfrm>
          <a:prstGeom prst="rect">
            <a:avLst/>
          </a:prstGeom>
          <a:solidFill>
            <a:srgbClr val="1A1A1A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06040" y="15087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₱45B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606040" y="24231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Estimated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annual GMV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06040" y="3063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5676B"/>
                </a:solidFill>
              </a:rPr>
              <a:t>Largely uncaptured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2011680" cy="2651760"/>
          </a:xfrm>
          <a:prstGeom prst="rect">
            <a:avLst/>
          </a:prstGeom>
          <a:solidFill>
            <a:srgbClr val="EA580C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5087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~0%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754880" y="24231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Digital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Penetration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3063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FED7AA"/>
                </a:solidFill>
              </a:rPr>
              <a:t>vs Grab/Foodpanda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1371600"/>
            <a:ext cx="2011680" cy="2651760"/>
          </a:xfrm>
          <a:prstGeom prst="rect">
            <a:avLst/>
          </a:prstGeom>
          <a:solidFill>
            <a:srgbClr val="1A1A1A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03720" y="15087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2 hrs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903720" y="24231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Lost daily to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paper admin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3063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5676B"/>
                </a:solidFill>
              </a:rPr>
              <a:t>= ₱500+ in lost time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BBBBB"/>
                </a:solidFill>
              </a:rPr>
              <a:t>* Estimates based on MSME development reports and field research. Carinderia count and GMV are working estimates.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5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03520" y="0"/>
            <a:ext cx="38404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4864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Built for owners who
still use paper lists,
but deserve better tools.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</a:rPr>
              <a:t>CarinderAI — Lutong bahay, smarter ops.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374904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3749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Salamat! 🙏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4526280"/>
            <a:ext cx="5486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45262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Rovince Eduvane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Anthony Seumal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991</Words>
  <Application>Microsoft Macintosh PowerPoint</Application>
  <PresentationFormat>On-screen Show (16:9)</PresentationFormat>
  <Paragraphs>227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CarinderAI</dc:title>
  <dc:subject>PptxGenJS Presentation</dc:subject>
  <dc:creator>Rovince Eduvane &amp; Anthony Seumal</dc:creator>
  <cp:lastModifiedBy>Rovince  S. Eduvane</cp:lastModifiedBy>
  <cp:revision>2</cp:revision>
  <dcterms:created xsi:type="dcterms:W3CDTF">2026-05-24T06:10:10Z</dcterms:created>
  <dcterms:modified xsi:type="dcterms:W3CDTF">2026-05-24T06:27:03Z</dcterms:modified>
</cp:coreProperties>
</file>